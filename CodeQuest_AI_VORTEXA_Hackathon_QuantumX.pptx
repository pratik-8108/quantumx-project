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31-38 Bold" charset="1" panose="00000000000000000000"/>
      <p:regular r:id="rId14"/>
    </p:embeddedFont>
    <p:embeddedFont>
      <p:font typeface="Heading Now 31-38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2.png"/><Relationship Id="rId11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2.png"/><Relationship Id="rId11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6893" y="4930326"/>
            <a:ext cx="1790743" cy="1009954"/>
          </a:xfrm>
          <a:custGeom>
            <a:avLst/>
            <a:gdLst/>
            <a:ahLst/>
            <a:cxnLst/>
            <a:rect r="r" b="b" t="t" l="l"/>
            <a:pathLst>
              <a:path h="1009954" w="1790743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736677" y="6563781"/>
            <a:ext cx="2260718" cy="74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1"/>
              </a:lnSpc>
            </a:pPr>
            <a:r>
              <a:t>TEAM NAME :  QuantumX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6677" y="4655619"/>
            <a:ext cx="5932460" cy="8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t>PROBLEM STATEMENT TITLE :</a:t>
            </a:r>
            <a:br/>
            <a:r>
              <a:t>Accessible AI-Assisted Python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6677" y="3700840"/>
            <a:ext cx="6250076" cy="8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t>DOMAIN &amp; NO :  E-02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6677" y="7525335"/>
            <a:ext cx="2119254" cy="7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2"/>
              </a:lnSpc>
            </a:pPr>
            <a:r>
              <a:t>TEAM ID :  PUD 1938558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27273" y="239946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94418" y="366545"/>
            <a:ext cx="4010276" cy="209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b="true" sz="13306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6268" y="366545"/>
            <a:ext cx="1413653" cy="209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b="true" sz="13306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7876" y="2201546"/>
            <a:ext cx="5496285" cy="239623"/>
          </a:xfrm>
          <a:custGeom>
            <a:avLst/>
            <a:gdLst/>
            <a:ahLst/>
            <a:cxnLst/>
            <a:rect r="r" b="b" t="t" l="l"/>
            <a:pathLst>
              <a:path h="239623" w="5496285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6181496" y="1747988"/>
            <a:ext cx="2453149" cy="57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3608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77" y="2531879"/>
            <a:ext cx="2119254" cy="4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b="true" sz="272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b="true" sz="272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-303755"/>
            <a:ext cx="1750048" cy="10607152"/>
          </a:xfrm>
          <a:custGeom>
            <a:avLst/>
            <a:gdLst/>
            <a:ahLst/>
            <a:cxnLst/>
            <a:rect r="r" b="b" t="t" l="l"/>
            <a:pathLst>
              <a:path h="10607152" w="1750048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0" r="-3785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4361330" y="6635716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2739803" y="7046873"/>
            <a:ext cx="5548197" cy="3256525"/>
          </a:xfrm>
          <a:custGeom>
            <a:avLst/>
            <a:gdLst/>
            <a:ahLst/>
            <a:cxnLst/>
            <a:rect r="r" b="b" t="t" l="l"/>
            <a:pathLst>
              <a:path h="3256525" w="5548197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154" r="0" b="-3059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6975464" y="5455062"/>
            <a:ext cx="1312536" cy="4088563"/>
          </a:xfrm>
          <a:custGeom>
            <a:avLst/>
            <a:gdLst/>
            <a:ahLst/>
            <a:cxnLst/>
            <a:rect r="r" b="b" t="t" l="l"/>
            <a:pathLst>
              <a:path h="4088563" w="1312536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6706941" y="7046873"/>
            <a:ext cx="1104718" cy="2372241"/>
          </a:xfrm>
          <a:custGeom>
            <a:avLst/>
            <a:gdLst/>
            <a:ahLst/>
            <a:cxnLst/>
            <a:rect r="r" b="b" t="t" l="l"/>
            <a:pathLst>
              <a:path h="2372241" w="1104718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4727951" y="2550929"/>
            <a:ext cx="3560049" cy="1756785"/>
          </a:xfrm>
          <a:custGeom>
            <a:avLst/>
            <a:gdLst/>
            <a:ahLst/>
            <a:cxnLst/>
            <a:rect r="r" b="b" t="t" l="l"/>
            <a:pathLst>
              <a:path h="1756785" w="3560049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TextBox 18"/>
          <p:cNvSpPr txBox="1"/>
          <p:nvPr/>
        </p:nvSpPr>
        <p:spPr>
          <a:xfrm>
            <a:off x="7315200" y="3840480"/>
            <a:ext cx="777240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800"/>
              </a:spcAft>
              <a:defRPr sz="3400" b="1" i="0">
                <a:solidFill>
                  <a:srgbClr val="141F44"/>
                </a:solidFill>
                <a:latin typeface="Aptos"/>
              </a:defRPr>
            </a:pPr>
            <a:r>
              <a:t>CODEQUEST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800600"/>
            <a:ext cx="740664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800"/>
              </a:spcAft>
              <a:defRPr sz="1900" b="0" i="0">
                <a:solidFill>
                  <a:srgbClr val="283146"/>
                </a:solidFill>
                <a:latin typeface="Aptos"/>
              </a:defRPr>
            </a:pPr>
            <a:r>
              <a:t>An interactive Python learning platform with AI-assisted debugging, explanations, hints, lessons and quizzes.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1418328" y="-57150"/>
            <a:ext cx="883111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529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Why a beginner-focused learning companion is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Beginners often struggle to understand programming errors and how to fix them.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Learning resources can feel fragmented: explanations, practice and feedback are spread across different tools.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New learners need a friendly place to explore Python concepts, get guidance and build confidence.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Goal: make early Python learning more approachable through one simple web experience.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883111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529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Proposed solution: CodeQuest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CodeQuest AI — an interactive, beginner-focused Python learning website.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AI-assisted tools help learners review code, understand what it does and receive hints.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A structured course includes 12 lessons, a learning roadmap, lesson search and completion tracking.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A built-in quiz provides practice across easy, medium and hard difficulty levels.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69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598601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736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A lightweight web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Frontend: HTML for structure, CSS for the dark responsive interface, and JavaScript for interactivity.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Backend: Node.js and Express serve the website and its public assets.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Learning UI: lesson reader, searchable lesson cards, roadmap, quiz feedback and progress indicators.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AI tools: debugger, code explainer and hint generator provide learning assistance.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Local progress: completed lessons are saved in the browser using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9860652"/>
          </a:xfrm>
          <a:custGeom>
            <a:avLst/>
            <a:gdLst/>
            <a:ahLst/>
            <a:cxnLst/>
            <a:rect r="r" b="b" t="t" l="l"/>
            <a:pathLst>
              <a:path h="9860652" w="1750048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46873"/>
            <a:ext cx="1312536" cy="3432644"/>
          </a:xfrm>
          <a:custGeom>
            <a:avLst/>
            <a:gdLst/>
            <a:ahLst/>
            <a:cxnLst/>
            <a:rect r="r" b="b" t="t" l="l"/>
            <a:pathLst>
              <a:path h="3432644" w="1312536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59732" y="5455062"/>
            <a:ext cx="5228268" cy="4848336"/>
            <a:chOff x="0" y="0"/>
            <a:chExt cx="6971024" cy="6464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35464" y="1574206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122415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743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20976" y="0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862945" y="2122415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34880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Practical to build, demonstrate and extend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Built with familiar web technologies: HTML, CSS, JavaScript, Node.js and Express.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The current website runs locally through the Express development server.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Lessons, quiz interactions and completion tracking can work without a user account.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The project can be demonstrated as a web prototype and extended incrementally.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Scope note: it does not currently execute arbitrary Python code in a dedicated runtime.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529376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55509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Learning outcomes for beginner programmers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Supports self-paced learning for people beginning Python.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Makes common programming concepts easier to revisit through short lessons and examples.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Offers immediate learning guidance through explanations, hints and debugging assistance.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Encourages practice with quizzes and visible lesson completion.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Keeps learning resources together in one accessible interface.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1221244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55509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77240" y="1325880"/>
            <a:ext cx="1627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1" i="0">
                <a:solidFill>
                  <a:srgbClr val="EF6F66"/>
                </a:solidFill>
                <a:latin typeface="Aptos"/>
              </a:defRPr>
            </a:pPr>
            <a:r>
              <a:t>What makes CodeQuest AI stand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65960"/>
            <a:ext cx="16002000" cy="5852160"/>
          </a:xfrm>
          <a:prstGeom prst="rect">
            <a:avLst/>
          </a:prstGeom>
          <a:noFill/>
        </p:spPr>
        <p:txBody>
          <a:bodyPr wrap="square" lIns="109728" t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Combines lessons, a learning roadmap, quizzes and progress tracking in one beginner-friendly site.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Offers three complementary AI-assisted modes: debug, explain and hint.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Lesson search helps users quickly find topics such as loops, functions and variables.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Keyboard focus indicators and lesson shortcuts improve navigation.</a:t>
            </a:r>
          </a:p>
          <a:p>
            <a:pPr>
              <a:spcAft>
                <a:spcPts val="1200"/>
              </a:spcAft>
              <a:defRPr sz="1900">
                <a:solidFill>
                  <a:srgbClr val="283146"/>
                </a:solidFill>
                <a:latin typeface="Aptos"/>
              </a:defRPr>
            </a:pPr>
            <a:r>
              <a:t>•  Designed as a focused learning companion rather than a general-purpose code editor.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711687"/>
            <a:ext cx="6540804" cy="5148966"/>
          </a:xfrm>
          <a:custGeom>
            <a:avLst/>
            <a:gdLst/>
            <a:ahLst/>
            <a:cxnLst/>
            <a:rect r="r" b="b" t="t" l="l"/>
            <a:pathLst>
              <a:path h="5148966" w="6540804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5196" y="6854356"/>
            <a:ext cx="4364182" cy="3006296"/>
          </a:xfrm>
          <a:custGeom>
            <a:avLst/>
            <a:gdLst/>
            <a:ahLst/>
            <a:cxnLst/>
            <a:rect r="r" b="b" t="t" l="l"/>
            <a:pathLst>
              <a:path h="3006296" w="4364182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89330" y="7499343"/>
            <a:ext cx="8498670" cy="2361309"/>
          </a:xfrm>
          <a:custGeom>
            <a:avLst/>
            <a:gdLst/>
            <a:ahLst/>
            <a:cxnLst/>
            <a:rect r="r" b="b" t="t" l="l"/>
            <a:pathLst>
              <a:path h="2361309" w="8498670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280704"/>
            <a:ext cx="16986402" cy="2798589"/>
          </a:xfrm>
          <a:custGeom>
            <a:avLst/>
            <a:gdLst/>
            <a:ahLst/>
            <a:cxnLst/>
            <a:rect r="r" b="b" t="t" l="l"/>
            <a:pathLst>
              <a:path h="2798589" w="16986402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6622" y="5990729"/>
            <a:ext cx="1531292" cy="4088563"/>
          </a:xfrm>
          <a:custGeom>
            <a:avLst/>
            <a:gdLst/>
            <a:ahLst/>
            <a:cxnLst/>
            <a:rect r="r" b="b" t="t" l="l"/>
            <a:pathLst>
              <a:path h="4088563" w="1531292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40976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23818" y="7280704"/>
            <a:ext cx="1104718" cy="2579949"/>
          </a:xfrm>
          <a:custGeom>
            <a:avLst/>
            <a:gdLst/>
            <a:ahLst/>
            <a:cxnLst/>
            <a:rect r="r" b="b" t="t" l="l"/>
            <a:pathLst>
              <a:path h="2579949" w="1104718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63020" y="3238633"/>
            <a:ext cx="6961960" cy="222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b="true" sz="14129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59464" y="5459607"/>
            <a:ext cx="11769072" cy="218640"/>
          </a:xfrm>
          <a:custGeom>
            <a:avLst/>
            <a:gdLst/>
            <a:ahLst/>
            <a:cxnLst/>
            <a:rect r="r" b="b" t="t" l="l"/>
            <a:pathLst>
              <a:path h="218640" w="11769072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17132" y="5877000"/>
            <a:ext cx="3296956" cy="87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81401" y="7052188"/>
            <a:ext cx="1168417" cy="8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name="TextBox 16" id="16"/>
          <p:cNvSpPr txBox="true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892622" y="599849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6583680" y="5852160"/>
            <a:ext cx="64008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500" b="1" i="0">
                <a:solidFill>
                  <a:srgbClr val="141F44"/>
                </a:solidFill>
                <a:latin typeface="Aptos"/>
              </a:defRPr>
            </a:pPr>
            <a:r>
              <a:t>CODEQUEST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6537960"/>
            <a:ext cx="73152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800" b="0" i="0">
                <a:solidFill>
                  <a:srgbClr val="283146"/>
                </a:solidFill>
                <a:latin typeface="Aptos"/>
              </a:defRPr>
            </a:pPr>
            <a:r>
              <a:t>Learn • Practice • Debug • Grow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DAHXr7I3BNw</dc:identifier>
  <dcterms:modified xsi:type="dcterms:W3CDTF">2011-08-01T06:04:30Z</dcterms:modified>
  <cp:revision>1</cp:revision>
  <dc:title>VORTEXA 3.0 Hackathon</dc:title>
</cp:coreProperties>
</file>